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32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01752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F4A8A">
              <a:alpha val="50000"/>
            </a:srgbClr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1F4A8A">
              <a:alpha val="50000"/>
            </a:srgbClr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MARKET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PLATFORM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Internship  |  London Success Academy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</a:t>
            </a:r>
            <a:r>
              <a:rPr lang="en-US" sz="13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Khadke</a:t>
            </a: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</a:t>
            </a:r>
            <a:r>
              <a:rPr lang="en-US" sz="13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Akshay</a:t>
            </a: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Londhe</a:t>
            </a: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June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Cloud Analytics  </a:t>
            </a: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Datasets: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Oil (Dec 2011 to Dec 2018)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9844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3075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5179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platform was commissioned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7452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8836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9397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1,718 gold records, 1,844 oil records, 87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059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459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6700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checks passed, logged to AUDIT.DQ_LOG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26664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266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0358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2461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schema, automated Stream/Task flow, live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02736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0273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Hypothesis-Driven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82219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hypotheses tested: volatility, risk, correlation, safe-haven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78808"/>
            <a:ext cx="47548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17880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187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439826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 and what we would change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Business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platform was commissioned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710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5087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stored in disconnected CSV files and spreadsheets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Reporting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" y="21854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spend more time preparing reports than analysing trends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624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Quality Checks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28620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 are difficult to detect and track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3009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 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53872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place to store, query, or visualise commodity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68496"/>
            <a:ext cx="54864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977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Decisions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42153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cannot easily answer time-sensitive market questions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23444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19202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reliable, </a:t>
            </a: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platform that enables business users to access </a:t>
            </a: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information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make better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Data Understanding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3,562 records across two commodity datasets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34440"/>
            <a:ext cx="402336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618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 |  gold_stocks_price.csv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Days: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2011 to Dec 2018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High: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$173.61 (Oct 2012)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Low: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$100.50 (Dec 2015)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7yr Average: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$127.32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Deviation: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$17.54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Format: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DD/MM/YYYY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2344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234440"/>
            <a:ext cx="40233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2618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 |  oil_price.csv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Days: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2011 to Dec 2018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High: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$110.53 (Sep 2013)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Low: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227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$26.21 (Feb 2016)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7yr Average: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$70.44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2013-16 Crash: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-76.3% drawdown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Format: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4242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YYYY-MM-DD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Data Quality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12 checks passed; data approved for pipeline promotion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20624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61872"/>
            <a:ext cx="146304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61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61872"/>
            <a:ext cx="109728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1261872"/>
            <a:ext cx="164592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261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609344"/>
            <a:ext cx="42062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609344"/>
            <a:ext cx="14630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609344"/>
            <a:ext cx="109728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1645920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6093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/ Blank Dates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6093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6093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16459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938528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938528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938528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975104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938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Dates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19385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19385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19751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267712"/>
            <a:ext cx="42062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267712"/>
            <a:ext cx="14630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267712"/>
            <a:ext cx="109728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60920" y="2304288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Price / Volume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2267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22677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60920" y="23042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596896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2596896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2596896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0920" y="2633472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5968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Non-positive Close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25968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25968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60920" y="26334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2926080"/>
            <a:ext cx="42062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2926080"/>
            <a:ext cx="14630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2926080"/>
            <a:ext cx="109728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60920" y="2962656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9260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OHLC Logic Violation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0" y="29260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26480" y="2926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60920" y="29626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3255264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3255264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26480" y="325526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60920" y="3291840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2552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/ Blank Dates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0" y="3255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126480" y="32552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360920" y="3291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584448"/>
            <a:ext cx="42062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0" y="3584448"/>
            <a:ext cx="14630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26480" y="3584448"/>
            <a:ext cx="109728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60920" y="3621024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5844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Dates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572000" y="35844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12648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360920" y="3621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74320" y="3913632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72000" y="3913632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26480" y="3913632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60920" y="3950208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39136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Non-positive Close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0" y="39136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126480" y="39136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360920" y="39502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74320" y="4242816"/>
            <a:ext cx="42062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0" y="4242816"/>
            <a:ext cx="146304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26480" y="4242816"/>
            <a:ext cx="1097280" cy="310896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60920" y="4279392"/>
            <a:ext cx="1554480" cy="237744"/>
          </a:xfrm>
          <a:prstGeom prst="roundRect">
            <a:avLst>
              <a:gd name="adj" fmla="val 1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42428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OHLC Logic Violation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572000" y="4242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126480" y="4242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360920" y="4279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4611075"/>
            <a:ext cx="8595360" cy="256032"/>
          </a:xfrm>
          <a:prstGeom prst="roundRect">
            <a:avLst>
              <a:gd name="adj" fmla="val 17857"/>
            </a:avLst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1480" y="463717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is stored in AUDIT.DQ_LOG with severity, % affected and a timestamp, so quality can be monitored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Platform Architecture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Cloud: 4-layer schema plus Snowflake-native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RAW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783080"/>
            <a:ext cx="16916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470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gold_stocks_price.csv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oil_price.csv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 staging, file metadata, _LOADED_AT timestamps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23160" y="12344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2C5F8E"/>
          </a:solidFill>
          <a:ln w="12700">
            <a:solidFill>
              <a:srgbClr val="2C5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STAGING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1783080"/>
            <a:ext cx="16916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8470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STG_GOLD_MARKET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STG_OIL_MARKET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5603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TRY_TO_* casting, OHLC validation, deduplication via ROW_NUMBER()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2344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ANALYTICS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783080"/>
            <a:ext cx="16916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8470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FACT_GOLD / OIL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 + 6 Views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25603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MA7/30/90, volatility, drawdown, correlation, cross signals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20840" y="12344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AUDIT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1783080"/>
            <a:ext cx="169164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8470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DQ_LOG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12280" y="25603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quality log, severity classification, stored procedure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564185"/>
            <a:ext cx="8595360" cy="274320"/>
          </a:xfrm>
          <a:prstGeom prst="roundRect">
            <a:avLst>
              <a:gd name="adj" fmla="val 16667"/>
            </a:avLst>
          </a:prstGeom>
          <a:solidFill>
            <a:srgbClr val="FDF3D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5902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Snowflake-native extras: Stream and Task for auto-ingest, Time Travel for audit, Zero-copy Clone for a dev sandbox, Stored Procedure for DQ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Automated Pipeline &amp; Dashboard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 flows from raw file to live dashboard with no manual step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pic>
        <p:nvPicPr>
          <p:cNvPr id="9" name="Image 0" descr="/home/claude/charts/pipeline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0"/>
            <a:ext cx="5943600" cy="2487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46520" y="1371600"/>
            <a:ext cx="2423160" cy="3291840"/>
          </a:xfrm>
          <a:prstGeom prst="roundRect">
            <a:avLst>
              <a:gd name="adj" fmla="val 377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481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1874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Stream 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new raw rows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0" y="2331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Root Task 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cleans, loads to staging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0" y="27889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Child Task 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rebuilds fact table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83680" y="32461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DQ Task 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quality to audit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83680" y="37033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Views 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automatically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83680" y="4160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Dashboard  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tiles redraw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416052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17880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only burns credits when the Stream has new data, so an idle pipeline is effectively free.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Hypothesis-Driven Insights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stated 8 business hypotheses, then proved or disproved each with the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57200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070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1207008"/>
            <a:ext cx="137160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07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1207008"/>
            <a:ext cx="2615184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207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17904"/>
            <a:ext cx="4572000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5179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is far more volatile than gold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82896" y="158191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58191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54496" y="1517904"/>
            <a:ext cx="2615184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51790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 more volatile (32.5% vs 15.3%)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929384"/>
            <a:ext cx="4572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92938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US dollar pushes gold down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82896" y="199339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99339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1929384"/>
            <a:ext cx="261518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92938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correlation -0.72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340864"/>
            <a:ext cx="4572000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34086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is a safe haven in equity sell-offs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82896" y="240487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240487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54496" y="2340864"/>
            <a:ext cx="2615184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34086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+0.20% on worst 5% S&amp;P days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752344"/>
            <a:ext cx="4572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75234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oil move together (no diversification)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82896" y="281635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81635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DISPROVEN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54496" y="2752344"/>
            <a:ext cx="261518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275234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flips: -0.31 to +0.51 to 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163824"/>
            <a:ext cx="4572000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16382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volume signals big price moves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82896" y="322783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22783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54496" y="3163824"/>
            <a:ext cx="2615184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316382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0.63; top days move 3x more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575304"/>
            <a:ext cx="4572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57530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clusters (risk is persistent)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82896" y="363931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363931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54496" y="3575304"/>
            <a:ext cx="261518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224" y="357530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autocorrelation +0.28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3986784"/>
            <a:ext cx="4572000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398678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&gt;2% daily moves are rare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82896" y="405079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82896" y="405079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54496" y="3986784"/>
            <a:ext cx="2615184" cy="393192"/>
          </a:xfrm>
          <a:prstGeom prst="rect">
            <a:avLst/>
          </a:prstGeom>
          <a:solidFill>
            <a:srgbClr val="F0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398678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4.3% of days, oil 24.3%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4398264"/>
            <a:ext cx="4572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39826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drawdown risk far exceeds gold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82896" y="4462272"/>
            <a:ext cx="1335024" cy="265176"/>
          </a:xfrm>
          <a:prstGeom prst="roundRect">
            <a:avLst>
              <a:gd name="adj" fmla="val 1379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4462272"/>
            <a:ext cx="1335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54496" y="4398264"/>
            <a:ext cx="261518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224" y="4398264"/>
            <a:ext cx="2487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-76.3% vs gold -42.1%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Spotlight: Volatility &amp; Risk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asked us to dig into volatility. Here is what we found.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pic>
        <p:nvPicPr>
          <p:cNvPr id="9" name="Image 0" descr="/home/claude/charts/h_volat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5120640" cy="2276856"/>
          </a:xfrm>
          <a:prstGeom prst="rect">
            <a:avLst/>
          </a:prstGeom>
        </p:spPr>
      </p:pic>
      <p:pic>
        <p:nvPicPr>
          <p:cNvPr id="10" name="Image 1" descr="/home/claude/charts/h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11880"/>
            <a:ext cx="4663440" cy="1280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23560" y="132588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23560" y="1463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FINDINGS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79008" y="18745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is 2.1x more volatile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Annualised: oil 32.5%, gold 15.3%. Every year, no exceptions.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779008" y="258775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clusters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 days follow turbulent days (autocorr +0.28). Risk is persistent.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79008" y="330098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is unstable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Gold-oil link swings from -0.31 to +0.51 across regimes.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779008" y="401421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drawdown twice as deep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loss: oil -76.3% vs gold -42.1%.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Lessons Learned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 and what we would change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145"/>
          </a:solidFill>
          <a:ln w="12700">
            <a:solidFill>
              <a:srgbClr val="0D21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34440"/>
            <a:ext cx="402336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61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schema kept raw data intact and fully auditable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DQ_LOG enables trend monitoring across pipeline runs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432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features (Stream, Task, Clone) set the build apart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00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 month-end and quarter-end flags help reporting straight away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57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Stream and Task pipeline feeds a live Snowsight dashboard with no manual step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234440"/>
            <a:ext cx="4023360" cy="4572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61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Improve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8288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DIM_DATE before the fact tables; the dependency surfaced late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286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oil CSV encoding before loading; the K volume format broke parsing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7432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unified data dictionary for all 81 gold columns at project start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200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date alignment check (oil holds 126 more records than gold)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6576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full pipeline end-to-end via Task chain from day 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6888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F4A8A">
              <a:alpha val="40000"/>
            </a:srgbClr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Market Intelligence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Success Academy  |  Applied Data Engineering Internship  |  June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1F4A8A"/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71216"/>
            <a:ext cx="182880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1,718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2446"/>
            <a:ext cx="18288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Records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283464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1F4A8A"/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871216"/>
            <a:ext cx="182880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78608" y="4022446"/>
            <a:ext cx="18288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Records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8608" y="283464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283464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1F4A8A"/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871216"/>
            <a:ext cx="182880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08576" y="4022446"/>
            <a:ext cx="18288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 Checks Passed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08576" y="283464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38544" y="2834640"/>
            <a:ext cx="1828800" cy="1645920"/>
          </a:xfrm>
          <a:prstGeom prst="roundRect">
            <a:avLst>
              <a:gd name="adj" fmla="val 4444"/>
            </a:avLst>
          </a:prstGeom>
          <a:solidFill>
            <a:srgbClr val="1F4A8A"/>
          </a:solidFill>
          <a:ln w="12700">
            <a:solidFill>
              <a:srgbClr val="1F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2871216"/>
            <a:ext cx="182880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38544" y="4022446"/>
            <a:ext cx="18288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Tested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38544" y="283464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Snowflake  |  Schemas: RAW, STAGING, ANALYTICS, AUDIT  |  Extras: Stream and Task, Time Travel, Zero-copy Clone, Stored Procedure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1190</Words>
  <Application>Microsoft Macintosh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Commodity Market Intelligence Platform</dc:title>
  <dc:subject>PptxGenJS Presentation</dc:subject>
  <dc:creator>Data Engineering Team</dc:creator>
  <cp:lastModifiedBy>Ajay 🙋</cp:lastModifiedBy>
  <cp:revision>5</cp:revision>
  <dcterms:created xsi:type="dcterms:W3CDTF">2026-06-13T04:44:05Z</dcterms:created>
  <dcterms:modified xsi:type="dcterms:W3CDTF">2026-06-13T04:56:03Z</dcterms:modified>
</cp:coreProperties>
</file>