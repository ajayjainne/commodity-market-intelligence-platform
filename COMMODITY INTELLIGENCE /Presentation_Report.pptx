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715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926080" cy="2926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INTELLIGENCE  ·  PLATINUM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&amp; Oil Market Intelligence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49808" y="320040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decisions: what the numbers say, what they cannot say, and what to do next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Khadke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Londhe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5029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·  Oil  ·  US Dollar Index  ·  CPI inflation  ·  VIX  ·  EIA world oil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analysis was built 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moves through four levels. Each adds a layer of meaning on top of the last, ending at the question executives actually care about.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2E617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six datasets, read the columns, confirm date ranges and summary statistics.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55848" y="214884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0168" y="2468880"/>
            <a:ext cx="457200" cy="457200"/>
          </a:xfrm>
          <a:prstGeom prst="ellipse">
            <a:avLst/>
          </a:prstGeom>
          <a:solidFill>
            <a:srgbClr val="2E6171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30168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630168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transformation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30168" y="4069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dates, coerce numbers, remove duplicates, flag outliers, build monthly summaries.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63056" y="214884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7376" y="2468880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9" name="Text 17"/>
          <p:cNvSpPr/>
          <p:nvPr/>
        </p:nvSpPr>
        <p:spPr>
          <a:xfrm>
            <a:off x="6437376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37376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437376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37376" y="4069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gold and oil trends, measure volatility, study trading volume, build executive views.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970264" y="214884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44584" y="2468880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25" name="Text 23"/>
          <p:cNvSpPr/>
          <p:nvPr/>
        </p:nvSpPr>
        <p:spPr>
          <a:xfrm>
            <a:off x="9244584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44584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Platinum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244584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thinking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244584" y="4069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external data, test hypotheses, explain movements, and turn findings into recommendations.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spends most of its time at Gold and Platinum, but every claim traces back to the cleaned data built in Bronze and Silver.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 ·  THE BASIC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 the data?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0078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(GLD)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OHLCV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to 2018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70078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(WTI)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price + volume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304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to 2018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70078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2057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index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66760" y="2304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1947 to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93522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Dollar index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DTWEXBGS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3538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to 2026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278892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293522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3538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to 2026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278892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66760" y="293522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EIA oil output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6676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annual, world total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66760" y="3538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 to 2025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160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5486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joined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383280" y="4160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338328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gold + oil months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17920" y="4160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621792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formats parsed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052560" y="4160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1980-2025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905256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output span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questions answered here: which assets, how granular, over what dates, in what shape. The answers set up the first real problem, seen on the next slide.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 ·  DATA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 that changes everything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5895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34032"/>
            <a:ext cx="7589520" cy="2698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73736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files end in 2018. The dollar and volatility files start in 2021.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 share a single month. Any test that pairs gold with the dollar or with VIX has no data to run on. The pipeline will not error; it returns empty joins that look like real output.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321040" y="416052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549640" y="43708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overlapping months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5394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this is the difference between reporting numbers and understanding them.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·  WHAT HAPPENED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commodities fell across the window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4200"/>
            <a:ext cx="7315200" cy="4064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38160" y="17373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66760" y="1901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36676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-23%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366760" y="2761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down to 118 (GLD units)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138160" y="33375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66760" y="35021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36676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6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-51%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366760" y="4361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down to 49 USD per barrel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138160" y="49834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 commodity bear market, the grind down from the 2011 gold peak and the 2014 to 2016 oil collapse. Not a safe-haven period.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·  WHICH IS MORE VOLATILE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swings about twice as hard as gold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663440" cy="475488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466344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40680" y="1463040"/>
            <a:ext cx="3931920" cy="475488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857500"/>
            <a:ext cx="3931920" cy="1965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555480" y="146304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14213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738360" y="169164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0.033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0.016</a:t>
            </a:r>
            <a:endParaRPr lang="en-US" sz="20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1100" dirty="0">
                <a:solidFill>
                  <a:srgbClr val="C9D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within-month volatility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555480" y="3977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volatile months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Dec 2014, Jan 2016, Nov 2018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Apr 2013, Jun 2013, Nov 2016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·  TRADING ACTIVITY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was trading unusually heavy?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68096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76809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55448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41080" y="1691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peak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4108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 2016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41080" y="24505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cycle-low scramble into safe assets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412480" y="292608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41080" y="3063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peak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41080" y="3383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 2017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641080" y="3822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climbed steadily as prices recovered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412480" y="429768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14213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41080" y="44622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check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41080" y="484632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daily prices flagged at three standard deviations, for both gold and oil. On a series that trends this far, a global z-score catches nothing, a property of the rule, not proof the data is flawless.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 ·  DO THEY MOVE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relationship is not stable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49808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9600"/>
            <a:ext cx="7498080" cy="291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554480"/>
            <a:ext cx="3337560" cy="1143000"/>
          </a:xfrm>
          <a:prstGeom prst="roundRect">
            <a:avLst>
              <a:gd name="adj" fmla="val 5600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85632" y="16642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6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485632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on price levels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85632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linked, but driven by a shared downward trend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75320" y="2807208"/>
            <a:ext cx="3337560" cy="1143000"/>
          </a:xfrm>
          <a:prstGeom prst="roundRect">
            <a:avLst>
              <a:gd name="adj" fmla="val 5600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85632" y="29169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485632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on monthly returns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85632" y="35844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to month, knowing one tells you almost nothing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75320" y="4059936"/>
            <a:ext cx="3337560" cy="1143000"/>
          </a:xfrm>
          <a:prstGeom prst="roundRect">
            <a:avLst>
              <a:gd name="adj" fmla="val 5600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85632" y="41696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-0.85 to +0.85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485632" y="4590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12-month range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485632" y="483717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swings between strong positive and strong negative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53492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this relationship on a rolling basis. A single correlation number hides the truth.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 ·  IS GOLD AN INFLATION HEDGE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 this window, and the test agrees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83105"/>
            <a:ext cx="6766560" cy="38061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46304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1812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 t-test, gold returns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18120" y="2011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High-inflation months:  -0.61%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Low-inflation months:   -0.12%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-0.49 pp   ·   p = 0.55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89520" y="365760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14213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8181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18120" y="42519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did slightly worse in higher-inflation months, and the difference is not significant. The inflation-hedge story is regime dependent, not a law. In 2011 to 2018, with rising real rates, the hedge simply was not visible. Do not time gold on inflation alone.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 ·  PATTERN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 months by behaviour (scikit-learn)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58368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8080" y="196596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gold and oil returns, gold and oil volatility, and inflation.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median imputation, then standard scaling.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groups the months; PCA projects them to two dimensions so the groups can be seen.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98080" y="452628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26680" y="47091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as exploration, not prediction. </a:t>
            </a: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groups separate calm months from high-volatility months; they are a lens for further questions, not a trading signal.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 · 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scorecard: be honest about what ran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8404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8A2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Gold higher when the dollar weakens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0413E"/>
                          </a:solidFill>
                        </a:rPr>
                        <a:t>None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Untestable: no dollar overlap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8A2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Gold higher in high-inflation months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E6171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Not significant (p = 0.55)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8A2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Oil higher when world output falls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0413E"/>
                          </a:solidFill>
                        </a:rPr>
                        <a:t>Degenerate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Undefined: one cut year only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8A2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H4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Gold higher in stressed (high-VIX) months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0413E"/>
                          </a:solidFill>
                        </a:rPr>
                        <a:t>None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Untestable: no VIX overlap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8A2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Gold returns track changes in VIX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0413E"/>
                          </a:solidFill>
                        </a:rPr>
                        <a:t>None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Untestable: no VIX overlap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8A24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Gold moves inversely to the dollar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0413E"/>
                          </a:solidFill>
                        </a:rPr>
                        <a:t>None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Untestable: no dollar overlap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six runs cleanly, one is undefined, four are empty. </a:t>
            </a: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run would print "4 of 6 rejected" off silent empty joins. That would be fiction.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levels of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49040" y="1554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-23%, oil -51%; oil about twice as volatile; returns nearly uncorrelated.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523744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4505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24505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Oil's damage in 2014 to 2016; gold's sharp moves in 2013 and late 2016.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3467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49040" y="3346704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applicable: these are global benchmark prices with no geography.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315968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2428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749040" y="424281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did not explain gold (p = 0.55); the dollar and VIX drivers are unmeasurable here.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138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next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749040" y="513892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the data in time, then re-test. Recommendations follow.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 · 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7ECEC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time-coverage gap first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126480" y="159105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gold and oil for 2021 to 2026, or the dollar and VIX back to 2011, so they overlap. Until then H1, H4, H5 and H6 stay formally open.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770632"/>
            <a:ext cx="420624" cy="420624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6334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Re-align the event study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126480" y="2624328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Ukraine, SVB and OPEC events sit after the price data ends. Point them at prices that exist before measuring impact.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03904"/>
            <a:ext cx="420624" cy="420624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03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66674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the inflation hedge as conditional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126480" y="365760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was not a hedge in this window. Combine inflation with real rates and the dollar, and re-test on overlapping data.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81144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837176"/>
            <a:ext cx="420624" cy="420624"/>
          </a:xfrm>
          <a:prstGeom prst="ellipse">
            <a:avLst/>
          </a:prstGeom>
          <a:solidFill>
            <a:srgbClr val="2E617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37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70001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world oil supply as backdrop only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126480" y="4690872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production-cut year cannot support a signal. Replace the annual series with a true monthly crude series.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614416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870448"/>
            <a:ext cx="420624" cy="420624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870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57332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report gold-oil on a rolling basis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126480" y="5724144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 correlation of 0.64 misleads. The rolling return correlation, mean 0.12 swinging widely, is the honest view.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931920"/>
            <a:ext cx="3840480" cy="3840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engineering is sound. The data needs alignment in time, not more analysis.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37490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Answered:  </a:t>
            </a:r>
            <a:r>
              <a:rPr lang="en-US" sz="15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happened, how volatile, and whether gold and oil move together.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42976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until data aligns:  </a:t>
            </a:r>
            <a:r>
              <a:rPr lang="en-US" sz="15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dollar, the safe-haven, and the volatility questions.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52120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trust in the data is worth more than building another dashboard.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1296</Words>
  <Application>Microsoft Macintosh PowerPoint</Application>
  <PresentationFormat>Widescreen</PresentationFormat>
  <Paragraphs>203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&amp; Oil Market Intelligence</dc:title>
  <dc:subject>PptxGenJS Presentation</dc:subject>
  <dc:creator>Commodity Intelligence</dc:creator>
  <cp:lastModifiedBy>Ajay 🙋</cp:lastModifiedBy>
  <cp:revision>2</cp:revision>
  <dcterms:created xsi:type="dcterms:W3CDTF">2026-06-15T04:38:49Z</dcterms:created>
  <dcterms:modified xsi:type="dcterms:W3CDTF">2026-06-15T09:06:46Z</dcterms:modified>
</cp:coreProperties>
</file>